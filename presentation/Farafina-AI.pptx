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463040"/>
            <a:ext cx="2926080" cy="2926080"/>
          </a:xfrm>
          <a:prstGeom prst="ellipse">
            <a:avLst/>
          </a:prstGeom>
          <a:ln w="25400">
            <a:solidFill>
              <a:srgbClr val="1AB578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-960120"/>
            <a:ext cx="1920240" cy="1920240"/>
          </a:xfrm>
          <a:prstGeom prst="ellipse">
            <a:avLst/>
          </a:prstGeom>
          <a:ln w="19050">
            <a:solidFill>
              <a:srgbClr val="159B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846320"/>
            <a:ext cx="3657600" cy="3657600"/>
          </a:xfrm>
          <a:prstGeom prst="ellipse">
            <a:avLst/>
          </a:prstGeom>
          <a:solidFill>
            <a:srgbClr val="0B663E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AB57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4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83080" y="868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the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barrier.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that lets everyone use technology in the language they actually speak — Dioula and Mooré.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</a:t>
            </a:r>
            <a:pPr indent="0" marL="0">
              <a:buNone/>
            </a:pPr>
            <a:r>
              <a:rPr lang="en-US" sz="1400" dirty="0">
                <a:solidFill>
                  <a:srgbClr val="1AB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Voice-first   ·   Web + Telegram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463040"/>
            <a:ext cx="2926080" cy="2926080"/>
          </a:xfrm>
          <a:prstGeom prst="ellipse">
            <a:avLst/>
          </a:prstGeom>
          <a:ln w="25400">
            <a:solidFill>
              <a:srgbClr val="CDEB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-960120"/>
            <a:ext cx="1920240" cy="1920240"/>
          </a:xfrm>
          <a:prstGeom prst="ellipse">
            <a:avLst/>
          </a:prstGeom>
          <a:ln w="19050">
            <a:solidFill>
              <a:srgbClr val="E5F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7315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IN ONE SENTENCE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424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2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 of people are locked out of the digital world </a:t>
            </a:r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B6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because they can’t use it — but because it doesn’t speak their language.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4663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 removes that barrier for Dioula and Mooré speakers — in text and in voice.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speaks French. Most people don’t.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3429000" cy="3977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423160"/>
            <a:ext cx="777240" cy="77724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423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43000" y="3429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spoken-language country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42976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life in Burkina Faso happens in Dioula and Mooré — at the market, at home, in the community.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07992" y="2057400"/>
            <a:ext cx="3429000" cy="3977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2423160"/>
            <a:ext cx="777240" cy="77724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2423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28032" y="3429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written-French internet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28032" y="42976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forms and official services are almost all in French, a language many people never learned to read.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193024" y="2057400"/>
            <a:ext cx="3429000" cy="3977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13064" y="2423160"/>
            <a:ext cx="777240" cy="77724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18" name="Text 16"/>
          <p:cNvSpPr/>
          <p:nvPr/>
        </p:nvSpPr>
        <p:spPr>
          <a:xfrm>
            <a:off x="8513064" y="2423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13064" y="3429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people are shut out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13064" y="42976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requires reading French — a form, an app, a document — becomes a wall.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66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463040"/>
            <a:ext cx="2926080" cy="2926080"/>
          </a:xfrm>
          <a:prstGeom prst="ellipse">
            <a:avLst/>
          </a:prstGeom>
          <a:ln w="25400">
            <a:solidFill>
              <a:srgbClr val="1AB578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-960120"/>
            <a:ext cx="1920240" cy="1920240"/>
          </a:xfrm>
          <a:prstGeom prst="ellipse">
            <a:avLst/>
          </a:prstGeom>
          <a:ln w="19050">
            <a:solidFill>
              <a:srgbClr val="159B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FE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of the gap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0E7D4D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146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AB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20M+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Burkina Faso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45262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speaking local languages every day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07992" y="21945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0E7D4D"/>
          </a:solidFill>
          <a:ln/>
        </p:spPr>
      </p:sp>
      <p:sp>
        <p:nvSpPr>
          <p:cNvPr id="13" name="Text 11"/>
          <p:cNvSpPr/>
          <p:nvPr/>
        </p:nvSpPr>
        <p:spPr>
          <a:xfrm>
            <a:off x="4782312" y="25146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AB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782312" y="3886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most spoken tongues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82312" y="45262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Mooré and Dioula — under-served by modern tech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93024" y="21945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0E7D4D"/>
          </a:solidFill>
          <a:ln/>
        </p:spPr>
      </p:sp>
      <p:sp>
        <p:nvSpPr>
          <p:cNvPr id="17" name="Text 15"/>
          <p:cNvSpPr/>
          <p:nvPr/>
        </p:nvSpPr>
        <p:spPr>
          <a:xfrm>
            <a:off x="8467344" y="25146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AB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467344" y="3886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written-French literacy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67344" y="45262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understanding is far higher than reading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E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for context — the point is the gap, not the decimals.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IS FOR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people, everyday needs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377440"/>
            <a:ext cx="868680" cy="86868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👩‍🌾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43000" y="40233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understand a letter from the bank or a government notice — without finding someone to translate.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07992" y="201168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2377440"/>
            <a:ext cx="868680" cy="86868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👨‍🦳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28032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elder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28032" y="40233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Mooré fluently, never learned to read French. Needs to hear information, not read it.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93024" y="201168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13064" y="2377440"/>
            <a:ext cx="868680" cy="86868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18" name="Text 16"/>
          <p:cNvSpPr/>
          <p:nvPr/>
        </p:nvSpPr>
        <p:spPr>
          <a:xfrm>
            <a:off x="8513064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🧑‍🎓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513064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young parent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13064" y="40233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official document but can’t navigate a French-only government website.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BARRIER, CONCRETELY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“locked out” looks like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2377440"/>
            <a:ext cx="731520" cy="73152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148840" y="239572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arrives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32120" y="239572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in French. You can’t read it, so you don’t know if it’s urgent, a bill, or a scam.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148840" y="3310128"/>
            <a:ext cx="8869680" cy="0"/>
          </a:xfrm>
          <a:prstGeom prst="line">
            <a:avLst/>
          </a:prstGeom>
          <a:noFill/>
          <a:ln w="12700">
            <a:solidFill>
              <a:srgbClr val="D8E7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3547872"/>
            <a:ext cx="731520" cy="73152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5478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48840" y="35661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is needed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356616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an official paper means a French website and forms — impossible to do alone.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148840" y="4480560"/>
            <a:ext cx="8869680" cy="0"/>
          </a:xfrm>
          <a:prstGeom prst="line">
            <a:avLst/>
          </a:prstGeom>
          <a:noFill/>
          <a:ln w="12700">
            <a:solidFill>
              <a:srgbClr val="D8E7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4718304"/>
            <a:ext cx="731520" cy="73152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7183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🧍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148840" y="473659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wait — and pay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32120" y="473659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depend on someone else’s time, money and goodwill for things others do in seconds.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NOTHING ALREADY FIXES THIS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usual tools don’t reach these languages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10515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313432"/>
            <a:ext cx="640080" cy="640080"/>
          </a:xfrm>
          <a:prstGeom prst="ellipse">
            <a:avLst/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313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207568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translators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77840" y="207568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support Dioula and Mooré — quality is poor or the language simply isn’t there.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10515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639312"/>
            <a:ext cx="640080" cy="640080"/>
          </a:xfrm>
          <a:prstGeom prst="ellipse">
            <a:avLst/>
          </a:prstGeom>
          <a:solidFill>
            <a:srgbClr val="FD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639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20240" y="34015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assumes reading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77840" y="340156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and apps expect you to read and type. That excludes non-readers entirely.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709160"/>
            <a:ext cx="10515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4965192"/>
            <a:ext cx="640080" cy="640080"/>
          </a:xfrm>
          <a:prstGeom prst="ellipse">
            <a:avLst/>
          </a:prstGeom>
          <a:solidFill>
            <a:srgbClr val="FDECE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9651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20240" y="472744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elsewhere, for elsewhere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472744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products aren’t designed for local realities, voices, or data sovereignty.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4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463040"/>
            <a:ext cx="2926080" cy="2926080"/>
          </a:xfrm>
          <a:prstGeom prst="ellipse">
            <a:avLst/>
          </a:prstGeom>
          <a:ln w="25400">
            <a:solidFill>
              <a:srgbClr val="1AB578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-960120"/>
            <a:ext cx="1920240" cy="1920240"/>
          </a:xfrm>
          <a:prstGeom prst="ellipse">
            <a:avLst/>
          </a:prstGeom>
          <a:ln w="19050">
            <a:solidFill>
              <a:srgbClr val="159B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-1371600" y="4663440"/>
            <a:ext cx="3840480" cy="3840480"/>
          </a:xfrm>
          <a:prstGeom prst="ellipse">
            <a:avLst/>
          </a:prstGeom>
          <a:solidFill>
            <a:srgbClr val="0B663E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05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FE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Farafina AI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you talk to in your own language.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Translate, understand documents, and get things done — by typing or just by speaking.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2286000" cy="685800"/>
          </a:xfrm>
          <a:prstGeom prst="roundRect">
            <a:avLst>
              <a:gd name="adj" fmla="val 49333"/>
            </a:avLst>
          </a:prstGeom>
          <a:solidFill>
            <a:srgbClr val="0E7D4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63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Dioula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4663440"/>
            <a:ext cx="2286000" cy="685800"/>
          </a:xfrm>
          <a:prstGeom prst="roundRect">
            <a:avLst>
              <a:gd name="adj" fmla="val 49333"/>
            </a:avLst>
          </a:prstGeom>
          <a:solidFill>
            <a:srgbClr val="0E7D4D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4663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4663440"/>
            <a:ext cx="2286000" cy="685800"/>
          </a:xfrm>
          <a:prstGeom prst="roundRect">
            <a:avLst>
              <a:gd name="adj" fmla="val 49333"/>
            </a:avLst>
          </a:prstGeom>
          <a:solidFill>
            <a:srgbClr val="0E7D4D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4663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in, voice out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66760" y="4663440"/>
            <a:ext cx="2286000" cy="685800"/>
          </a:xfrm>
          <a:prstGeom prst="roundRect">
            <a:avLst>
              <a:gd name="adj" fmla="val 49333"/>
            </a:avLst>
          </a:prstGeom>
          <a:solidFill>
            <a:srgbClr val="0E7D4D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4663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&amp; local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things, one simple assistant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377440"/>
            <a:ext cx="868680" cy="868680"/>
          </a:xfrm>
          <a:prstGeom prst="ellipse">
            <a:avLst/>
          </a:prstGeom>
          <a:solidFill>
            <a:srgbClr val="0B663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41148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↔ Dioula and Mooré, instantly — the words people actually need.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507992" y="201168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2377440"/>
            <a:ext cx="868680" cy="868680"/>
          </a:xfrm>
          <a:prstGeom prst="ellipse">
            <a:avLst/>
          </a:prstGeom>
          <a:solidFill>
            <a:srgbClr val="0B663E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28032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828032" y="41148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photo or a PDF and get a clear explanation of what it says and means.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193024" y="201168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13064" y="2377440"/>
            <a:ext cx="868680" cy="868680"/>
          </a:xfrm>
          <a:prstGeom prst="ellipse">
            <a:avLst/>
          </a:prstGeom>
          <a:solidFill>
            <a:srgbClr val="0B663E"/>
          </a:solidFill>
          <a:ln/>
        </p:spPr>
      </p:sp>
      <p:sp>
        <p:nvSpPr>
          <p:cNvPr id="18" name="Text 16"/>
          <p:cNvSpPr/>
          <p:nvPr/>
        </p:nvSpPr>
        <p:spPr>
          <a:xfrm>
            <a:off x="8513064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513064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&amp; listen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513064" y="41148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by voice, get answers as a voice note — no reading or typing required.</a:t>
            </a:r>
            <a:endParaRPr lang="en-US" sz="15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FOR YOU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easy as sending a message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423160"/>
            <a:ext cx="868680" cy="8686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423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language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40690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Dioula or Mooré once. The assistant remembers.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07992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2423160"/>
            <a:ext cx="868680" cy="8686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2423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28032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way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28032" y="40690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record a voice note, or send a photo / document.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193024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13064" y="2423160"/>
            <a:ext cx="868680" cy="8686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513064" y="2423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513064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clear answer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13064" y="40690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your language — as text and as audio you can play.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1148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99832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2960" y="5715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manuals. No French. Nothing new to learn.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USE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meet people where they already are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50749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2468880"/>
            <a:ext cx="960120" cy="960120"/>
          </a:xfrm>
          <a:prstGeom prst="ellipse">
            <a:avLst/>
          </a:prstGeom>
          <a:solidFill>
            <a:srgbClr val="0B663E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688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web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4440" y="374904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mobile-friendly site to translate and read documents — nothing to install.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172200" y="2057400"/>
            <a:ext cx="50749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468880"/>
            <a:ext cx="960120" cy="960120"/>
          </a:xfrm>
          <a:prstGeom prst="ellipse">
            <a:avLst/>
          </a:prstGeom>
          <a:solidFill>
            <a:srgbClr val="0B663E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4688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77240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Telegram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83680" y="374904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assistant inside a chat app people already have — voice notes included.</a:t>
            </a:r>
            <a:endParaRPr lang="en-US" sz="16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66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463040"/>
            <a:ext cx="2926080" cy="2926080"/>
          </a:xfrm>
          <a:prstGeom prst="ellipse">
            <a:avLst/>
          </a:prstGeom>
          <a:ln w="25400">
            <a:solidFill>
              <a:srgbClr val="1AB578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-960120"/>
            <a:ext cx="1920240" cy="1920240"/>
          </a:xfrm>
          <a:prstGeom prst="ellipse">
            <a:avLst/>
          </a:prstGeom>
          <a:ln w="19050">
            <a:solidFill>
              <a:srgbClr val="159B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685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FE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CHANGES EVERYTHING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people who don’t read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menu, every button and every answer can be heard as a voice note — so you never need to read a single word to use it.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1AB57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4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977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menus that name each option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727448"/>
            <a:ext cx="502920" cy="502920"/>
          </a:xfrm>
          <a:prstGeom prst="ellipse">
            <a:avLst/>
          </a:prstGeom>
          <a:solidFill>
            <a:srgbClr val="1AB57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27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4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7274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by voice, answer by voice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5477256"/>
            <a:ext cx="502920" cy="502920"/>
          </a:xfrm>
          <a:prstGeom prst="ellipse">
            <a:avLst/>
          </a:prstGeom>
          <a:solidFill>
            <a:srgbClr val="1AB57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477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4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547725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buttons matched to the audio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321040" y="2286000"/>
            <a:ext cx="3017520" cy="3566160"/>
          </a:xfrm>
          <a:prstGeom prst="roundRect">
            <a:avLst>
              <a:gd name="adj" fmla="val 4242"/>
            </a:avLst>
          </a:prstGeom>
          <a:solidFill>
            <a:srgbClr val="0E7D4D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651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8595360" y="38404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E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“Press 1 to explain a document, press 2 to request an official paper…”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does this paper say?”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468880"/>
            <a:ext cx="822960" cy="82296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it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43000" y="40690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 of the letter or forward the PDF.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07992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2468880"/>
            <a:ext cx="822960" cy="82296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28032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it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28032" y="40690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understands the document, whatever the layout.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93024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13064" y="2468880"/>
            <a:ext cx="822960" cy="82296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18" name="Text 16"/>
          <p:cNvSpPr/>
          <p:nvPr/>
        </p:nvSpPr>
        <p:spPr>
          <a:xfrm>
            <a:off x="8513064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513064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it explained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13064" y="40690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plain-language summary in Dioula or Mooré — spoken.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an official document — by chat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requesting a criminal-record certificate (casier judiciaire), start to finish, without ever touching a French form.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0" y="2880360"/>
            <a:ext cx="868680" cy="868680"/>
          </a:xfrm>
          <a:prstGeom prst="ellipse">
            <a:avLst/>
          </a:prstGeom>
          <a:solidFill>
            <a:srgbClr val="0B663E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880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886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papers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05840" y="4572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your ID documents in the chat.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3566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547872" y="2606040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70832" y="2880360"/>
            <a:ext cx="868680" cy="868680"/>
          </a:xfrm>
          <a:prstGeom prst="ellipse">
            <a:avLst/>
          </a:prstGeom>
          <a:solidFill>
            <a:srgbClr val="0B663E"/>
          </a:solidFill>
          <a:ln/>
        </p:spPr>
      </p:sp>
      <p:sp>
        <p:nvSpPr>
          <p:cNvPr id="15" name="Text 13"/>
          <p:cNvSpPr/>
          <p:nvPr/>
        </p:nvSpPr>
        <p:spPr>
          <a:xfrm>
            <a:off x="4370832" y="2880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30752" y="3886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fills the gaps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730752" y="4572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what it can and only asks for what’s missing — in your language.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3566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2784" y="2606040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95744" y="2880360"/>
            <a:ext cx="868680" cy="868680"/>
          </a:xfrm>
          <a:prstGeom prst="ellipse">
            <a:avLst/>
          </a:prstGeom>
          <a:solidFill>
            <a:srgbClr val="0B663E"/>
          </a:solidFill>
          <a:ln/>
        </p:spPr>
      </p:sp>
      <p:sp>
        <p:nvSpPr>
          <p:cNvPr id="21" name="Text 19"/>
          <p:cNvSpPr/>
          <p:nvPr/>
        </p:nvSpPr>
        <p:spPr>
          <a:xfrm>
            <a:off x="7095744" y="2880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55664" y="3886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the paperwork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55664" y="4572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is completed on the service for you.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59952" y="3566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997696" y="2606040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20656" y="2880360"/>
            <a:ext cx="868680" cy="868680"/>
          </a:xfrm>
          <a:prstGeom prst="ellipse">
            <a:avLst/>
          </a:prstGeom>
          <a:solidFill>
            <a:srgbClr val="0B663E"/>
          </a:solidFill>
          <a:ln/>
        </p:spPr>
      </p:sp>
      <p:sp>
        <p:nvSpPr>
          <p:cNvPr id="27" name="Text 25"/>
          <p:cNvSpPr/>
          <p:nvPr/>
        </p:nvSpPr>
        <p:spPr>
          <a:xfrm>
            <a:off x="9820656" y="2880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80576" y="3886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1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result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180576" y="4572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official récépissé comes back to you in the chat.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with two — designed to grow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50749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23317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6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Dioula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34440" y="3063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Julakan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3520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across Burkina Faso, Côte d’Ivoire and Mali.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0749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23317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6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Mooré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Mòoré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3520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widely spoken language in Burkina Faso.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80060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E5F6EE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80060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approach extends to more of West Africa’s languages — the hard part (voice + local models) is already built.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4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463040"/>
            <a:ext cx="2926080" cy="2926080"/>
          </a:xfrm>
          <a:prstGeom prst="ellipse">
            <a:avLst/>
          </a:prstGeom>
          <a:ln w="25400">
            <a:solidFill>
              <a:srgbClr val="1AB578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-960120"/>
            <a:ext cx="1920240" cy="1920240"/>
          </a:xfrm>
          <a:prstGeom prst="ellipse">
            <a:avLst/>
          </a:prstGeom>
          <a:ln w="19050">
            <a:solidFill>
              <a:srgbClr val="159B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685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FE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SOVEREIGN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for us, run by us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777240" cy="777240"/>
          </a:xfrm>
          <a:prstGeom prst="ellipse">
            <a:avLst/>
          </a:prstGeom>
          <a:solidFill>
            <a:srgbClr val="0E7D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77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B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0" y="235915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local languages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943600" y="235915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bolt-on to a foreign product — these languages come first.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566160"/>
            <a:ext cx="777240" cy="777240"/>
          </a:xfrm>
          <a:prstGeom prst="ellipse">
            <a:avLst/>
          </a:prstGeom>
          <a:solidFill>
            <a:srgbClr val="0E7D4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66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B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35478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stays close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943600" y="354787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so people’s words and documents aren’t handed to distant platforms.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754880"/>
            <a:ext cx="777240" cy="777240"/>
          </a:xfrm>
          <a:prstGeom prst="ellipse">
            <a:avLst/>
          </a:prstGeom>
          <a:solidFill>
            <a:srgbClr val="0E7D4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54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B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47365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capability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943600" y="473659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Know-how and infrastructure that belong to the region, not rented from elsewhere.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when the barrier is gone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468880"/>
            <a:ext cx="822960" cy="82296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9456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194560" y="276148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handle their own documents and services — no middleman.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468880"/>
            <a:ext cx="822960" cy="82296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54380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Fairer access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43800" y="276148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services become reachable for everyone, not only French readers.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402336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43000" y="4480560"/>
            <a:ext cx="822960" cy="82296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194560" y="4251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money saved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194560" y="477316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instead of trips, favors and fees.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72200" y="402336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663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4480560"/>
            <a:ext cx="822960" cy="822960"/>
          </a:xfrm>
          <a:prstGeom prst="ellipse">
            <a:avLst/>
          </a:prstGeom>
          <a:solidFill>
            <a:srgbClr val="E5F6EE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543800" y="4251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Dignity &amp; inclusion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543800" y="477316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language is treated as first-class in the digital world.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59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WE’RE GOING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E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translator to a companion for daily life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310896" cy="310896"/>
          </a:xfrm>
          <a:prstGeom prst="ellipse">
            <a:avLst/>
          </a:prstGeom>
          <a:solidFill>
            <a:srgbClr val="0B663E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2551176"/>
            <a:ext cx="0" cy="969264"/>
          </a:xfrm>
          <a:prstGeom prst="line">
            <a:avLst/>
          </a:prstGeom>
          <a:noFill/>
          <a:ln w="25400">
            <a:solidFill>
              <a:srgbClr val="D8E7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2336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Translate, understand documents, and request a first official document — by text or voice.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310896" cy="310896"/>
          </a:xfrm>
          <a:prstGeom prst="ellipse">
            <a:avLst/>
          </a:prstGeom>
          <a:solidFill>
            <a:srgbClr val="0B663E"/>
          </a:solidFill>
          <a:ln/>
        </p:spPr>
      </p:sp>
      <p:sp>
        <p:nvSpPr>
          <p:cNvPr id="11" name="Shape 9"/>
          <p:cNvSpPr/>
          <p:nvPr/>
        </p:nvSpPr>
        <p:spPr>
          <a:xfrm>
            <a:off x="1069848" y="3831336"/>
            <a:ext cx="0" cy="969264"/>
          </a:xfrm>
          <a:prstGeom prst="line">
            <a:avLst/>
          </a:prstGeom>
          <a:noFill/>
          <a:ln w="25400">
            <a:solidFill>
              <a:srgbClr val="D8E7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6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23360" y="3383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official services and more languages, same simple voice-first experience.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4800600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023360" y="4663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assistant that helps anyone access information, rights and services in their own tongue.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66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463040"/>
            <a:ext cx="2926080" cy="2926080"/>
          </a:xfrm>
          <a:prstGeom prst="ellipse">
            <a:avLst/>
          </a:prstGeom>
          <a:ln w="25400">
            <a:solidFill>
              <a:srgbClr val="1AB578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-960120"/>
            <a:ext cx="1920240" cy="1920240"/>
          </a:xfrm>
          <a:prstGeom prst="ellipse">
            <a:avLst/>
          </a:prstGeom>
          <a:ln w="19050">
            <a:solidFill>
              <a:srgbClr val="159B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685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FE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for yourself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7498080" cy="914400"/>
          </a:xfrm>
          <a:prstGeom prst="roundRect">
            <a:avLst>
              <a:gd name="adj" fmla="val 12000"/>
            </a:avLst>
          </a:prstGeom>
          <a:solidFill>
            <a:srgbClr val="0E7D4D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2679192"/>
            <a:ext cx="585216" cy="585216"/>
          </a:xfrm>
          <a:prstGeom prst="ellipse">
            <a:avLst/>
          </a:prstGeom>
          <a:solidFill>
            <a:srgbClr val="1AB578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6791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4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74520" y="262432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2624328"/>
            <a:ext cx="3703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hackton-locallang.vercel.app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611880"/>
            <a:ext cx="7498080" cy="914400"/>
          </a:xfrm>
          <a:prstGeom prst="roundRect">
            <a:avLst>
              <a:gd name="adj" fmla="val 12000"/>
            </a:avLst>
          </a:prstGeom>
          <a:solidFill>
            <a:srgbClr val="0E7D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3776472"/>
            <a:ext cx="585216" cy="585216"/>
          </a:xfrm>
          <a:prstGeom prst="ellipse">
            <a:avLst/>
          </a:prstGeom>
          <a:solidFill>
            <a:srgbClr val="1AB578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7764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4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74520" y="372160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80560" y="3721608"/>
            <a:ext cx="3703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@Africalangbot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4709160"/>
            <a:ext cx="7498080" cy="914400"/>
          </a:xfrm>
          <a:prstGeom prst="roundRect">
            <a:avLst>
              <a:gd name="adj" fmla="val 12000"/>
            </a:avLst>
          </a:prstGeom>
          <a:solidFill>
            <a:srgbClr val="0E7D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4873752"/>
            <a:ext cx="585216" cy="585216"/>
          </a:xfrm>
          <a:prstGeom prst="ellipse">
            <a:avLst/>
          </a:prstGeom>
          <a:solidFill>
            <a:srgbClr val="1AB57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8737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4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74520" y="48188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480560" y="4818888"/>
            <a:ext cx="3703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github.com/Achraf-cyber/hackton-locallang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0" y="5120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E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link list in LINKS.md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4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463040"/>
            <a:ext cx="2926080" cy="2926080"/>
          </a:xfrm>
          <a:prstGeom prst="ellipse">
            <a:avLst/>
          </a:prstGeom>
          <a:ln w="25400">
            <a:solidFill>
              <a:srgbClr val="1AB578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2" y="-960120"/>
            <a:ext cx="1920240" cy="1920240"/>
          </a:xfrm>
          <a:prstGeom prst="ellipse">
            <a:avLst/>
          </a:prstGeom>
          <a:ln w="19050">
            <a:solidFill>
              <a:srgbClr val="159B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846320"/>
            <a:ext cx="3657600" cy="3657600"/>
          </a:xfrm>
          <a:prstGeom prst="ellipse">
            <a:avLst/>
          </a:prstGeom>
          <a:solidFill>
            <a:srgbClr val="0B663E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AB57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4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deserves technology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speaks their language.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Farafina AI — Dioula &amp; Mooré, by voice and by text.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5212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B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Farafina AI — Breaking the language barrier</dc:title>
  <dc:subject>PptxGenJS Presentation</dc:subject>
  <dc:creator>Farafina AI</dc:creator>
  <cp:lastModifiedBy>Farafina AI</cp:lastModifiedBy>
  <cp:revision>1</cp:revision>
  <dcterms:created xsi:type="dcterms:W3CDTF">2026-07-06T18:04:25Z</dcterms:created>
  <dcterms:modified xsi:type="dcterms:W3CDTF">2026-07-06T18:04:25Z</dcterms:modified>
</cp:coreProperties>
</file>